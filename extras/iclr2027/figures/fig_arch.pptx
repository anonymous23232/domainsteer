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" y="73152"/>
            <a:ext cx="5961888" cy="3310128"/>
          </a:xfrm>
          <a:prstGeom prst="roundRect">
            <a:avLst>
              <a:gd name="adj" fmla="val 8000"/>
            </a:avLst>
          </a:prstGeom>
          <a:solidFill>
            <a:srgbClr val="E7F0FB"/>
          </a:solidFill>
          <a:ln w="15875">
            <a:solidFill>
              <a:srgbClr val="3D6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tIns="54864" rIns="54864" bIns="54864"/>
          <a:lstStyle/>
          <a:p>
            <a:pPr algn="l"/>
          </a:p>
        </p:txBody>
      </p:sp>
      <p:sp>
        <p:nvSpPr>
          <p:cNvPr id="4" name="Rounded Rectangle 3"/>
          <p:cNvSpPr/>
          <p:nvPr/>
        </p:nvSpPr>
        <p:spPr>
          <a:xfrm>
            <a:off x="6163056" y="73152"/>
            <a:ext cx="5961888" cy="3310128"/>
          </a:xfrm>
          <a:prstGeom prst="roundRect">
            <a:avLst>
              <a:gd name="adj" fmla="val 8000"/>
            </a:avLst>
          </a:prstGeom>
          <a:solidFill>
            <a:srgbClr val="FFF6DE"/>
          </a:solidFill>
          <a:ln w="15875">
            <a:solidFill>
              <a:srgbClr val="C49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tIns="54864" rIns="54864" bIns="54864"/>
          <a:lstStyle/>
          <a:p>
            <a:pPr algn="l"/>
          </a:p>
        </p:txBody>
      </p:sp>
      <p:sp>
        <p:nvSpPr>
          <p:cNvPr id="5" name="Rounded Rectangle 4"/>
          <p:cNvSpPr/>
          <p:nvPr/>
        </p:nvSpPr>
        <p:spPr>
          <a:xfrm>
            <a:off x="73152" y="3493008"/>
            <a:ext cx="5961888" cy="3291840"/>
          </a:xfrm>
          <a:prstGeom prst="roundRect">
            <a:avLst>
              <a:gd name="adj" fmla="val 8000"/>
            </a:avLst>
          </a:prstGeom>
          <a:solidFill>
            <a:srgbClr val="E5F6EC"/>
          </a:solidFill>
          <a:ln w="15875">
            <a:solidFill>
              <a:srgbClr val="3E8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tIns="54864" rIns="54864" bIns="54864"/>
          <a:lstStyle/>
          <a:p>
            <a:pPr algn="l"/>
          </a:p>
        </p:txBody>
      </p:sp>
      <p:sp>
        <p:nvSpPr>
          <p:cNvPr id="6" name="Rounded Rectangle 5"/>
          <p:cNvSpPr/>
          <p:nvPr/>
        </p:nvSpPr>
        <p:spPr>
          <a:xfrm>
            <a:off x="6163056" y="3493008"/>
            <a:ext cx="5961888" cy="329184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 w="15875">
            <a:solidFill>
              <a:srgbClr val="C4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tIns="54864" rIns="54864" bIns="54864"/>
          <a:lstStyle/>
          <a:p>
            <a:pPr algn="l"/>
          </a:p>
        </p:txBody>
      </p:sp>
      <p:sp>
        <p:nvSpPr>
          <p:cNvPr id="7" name="Rounded Rectangle 6"/>
          <p:cNvSpPr/>
          <p:nvPr/>
        </p:nvSpPr>
        <p:spPr>
          <a:xfrm>
            <a:off x="164592" y="128016"/>
            <a:ext cx="5779008" cy="292608"/>
          </a:xfrm>
          <a:prstGeom prst="roundRect">
            <a:avLst>
              <a:gd name="adj" fmla="val 8000"/>
            </a:avLst>
          </a:prstGeom>
          <a:solidFill>
            <a:srgbClr val="E7F0FB"/>
          </a:solidFill>
          <a:ln>
            <a:solidFill>
              <a:srgbClr val="E7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tIns="54864" rIns="54864" bIns="54864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1.  Build a domain steering vector (CAA)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4592" y="438912"/>
            <a:ext cx="2487168" cy="1572768"/>
          </a:xfrm>
          <a:prstGeom prst="roundRect">
            <a:avLst>
              <a:gd name="adj" fmla="val 8000"/>
            </a:avLst>
          </a:prstGeom>
          <a:solidFill>
            <a:srgbClr val="E3F4DC"/>
          </a:solidFill>
          <a:ln w="12700">
            <a:solidFill>
              <a:srgbClr val="6AA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tIns="54864" rIns="54864" bIns="54864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E6B32"/>
                </a:solidFill>
                <a:latin typeface="Calibri"/>
              </a:rPr>
              <a:t>Expert  (+)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3D3D3D"/>
                </a:solidFill>
                <a:latin typeface="Calibri"/>
              </a:rPr>
              <a:t>You are an Electrical engineering practitioner.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How does feedback work?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If the feedback is negative, does it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make things worse?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… (28 more)     30 pairs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592" y="2084831"/>
            <a:ext cx="2487168" cy="1170432"/>
          </a:xfrm>
          <a:prstGeom prst="roundRect">
            <a:avLst>
              <a:gd name="adj" fmla="val 8000"/>
            </a:avLst>
          </a:prstGeom>
          <a:solidFill>
            <a:srgbClr val="FAE2E2"/>
          </a:solidFill>
          <a:ln w="12700">
            <a:solidFill>
              <a:srgbClr val="C4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tIns="54864" rIns="54864" bIns="54864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A03030"/>
                </a:solidFill>
                <a:latin typeface="Calibri"/>
              </a:rPr>
              <a:t>Default  (−)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3D3D3D"/>
                </a:solidFill>
                <a:latin typeface="Calibri"/>
              </a:rPr>
              <a:t>You are a helpful assistant.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How does feedback work?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If the feedback is negative, …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Same stems.  … (28 more)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706624" y="1051560"/>
            <a:ext cx="256032" cy="164592"/>
          </a:xfrm>
          <a:prstGeom prst="rightArrow">
            <a:avLst/>
          </a:prstGeom>
          <a:solidFill>
            <a:srgbClr val="3D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99232" y="438912"/>
            <a:ext cx="1353312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D6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54864" rIns="54864" bIns="54864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Mean-pool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assistant tokens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layers 10–20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3D3D3D"/>
                </a:solidFill>
                <a:latin typeface="Calibri"/>
              </a:rPr>
              <a:t>Replayed under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3D3D3D"/>
                </a:solidFill>
                <a:latin typeface="Calibri"/>
              </a:rPr>
              <a:t>the helper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3D3D3D"/>
                </a:solidFill>
                <a:latin typeface="Calibri"/>
              </a:rPr>
              <a:t>template.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407408" y="1051560"/>
            <a:ext cx="237744" cy="164592"/>
          </a:xfrm>
          <a:prstGeom prst="rightArrow">
            <a:avLst/>
          </a:prstGeom>
          <a:solidFill>
            <a:srgbClr val="3D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81728" y="438912"/>
            <a:ext cx="1243584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D6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54864" rIns="54864" bIns="54864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v = unit(μ+ − μ−)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3D3D3D"/>
                </a:solidFill>
                <a:latin typeface="Calibri"/>
              </a:rPr>
              <a:t>one unit vector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3D3D3D"/>
                </a:solidFill>
                <a:latin typeface="Calibri"/>
              </a:rPr>
              <a:t>at each of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layers 10–20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99232" y="2121408"/>
            <a:ext cx="292608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D6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54864" rIns="54864" bIns="54864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Same unnamed stem on both sides.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The domain prompt only writes the expert text. It is not in the states that are averaged.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128016"/>
            <a:ext cx="5779008" cy="292608"/>
          </a:xfrm>
          <a:prstGeom prst="roundRect">
            <a:avLst>
              <a:gd name="adj" fmla="val 8000"/>
            </a:avLst>
          </a:prstGeom>
          <a:solidFill>
            <a:srgbClr val="FFF6DE"/>
          </a:solidFill>
          <a:ln>
            <a:solidFill>
              <a:srgbClr val="FFF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tIns="54864" rIns="54864" bIns="54864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2.  Add the vector at generation 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475488"/>
            <a:ext cx="32461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49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tIns="54864" rIns="54864" bIns="54864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Input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System prompt: helper, or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“You are an Electrical engineering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practitioner.”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Question does not name the domain.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627632"/>
            <a:ext cx="324612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49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54864" rIns="54864" bIns="54864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D3D3D"/>
                </a:solidFill>
                <a:latin typeface="Calibri"/>
              </a:rPr>
              <a:t>Layer 1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D3D3D"/>
                </a:solidFill>
                <a:latin typeface="Calibri"/>
              </a:rPr>
              <a:t>⋮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Calibri"/>
              </a:rPr>
              <a:t>one layer in 10–20   (add v)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every token, including system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and user turns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3D3D3D"/>
                </a:solidFill>
                <a:latin typeface="Calibri"/>
              </a:rPr>
              <a:t>⋮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Generate answer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46920" y="640080"/>
            <a:ext cx="2304288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49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54864" rIns="54864" bIns="54864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h  ←  h + α‖h‖v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3D3D3D"/>
                </a:solidFill>
                <a:latin typeface="Calibri"/>
              </a:rPr>
              <a:t>h   residual stream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3D3D3D"/>
                </a:solidFill>
                <a:latin typeface="Calibri"/>
              </a:rPr>
              <a:t>v   domain steering vector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3D3D3D"/>
                </a:solidFill>
                <a:latin typeface="Calibri"/>
              </a:rPr>
              <a:t>α   strength, a fraction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3D3D3D"/>
                </a:solidFill>
                <a:latin typeface="Calibri"/>
              </a:rPr>
              <a:t>of ‖h‖ at that token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4592" y="3547872"/>
            <a:ext cx="5779008" cy="274320"/>
          </a:xfrm>
          <a:prstGeom prst="roundRect">
            <a:avLst>
              <a:gd name="adj" fmla="val 8000"/>
            </a:avLst>
          </a:prstGeom>
          <a:solidFill>
            <a:srgbClr val="E5F6EC"/>
          </a:solidFill>
          <a:ln>
            <a:solidFill>
              <a:srgbClr val="E5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tIns="54864" rIns="54864" bIns="54864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3.  Evaluate on polysemy traps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4592" y="3858768"/>
            <a:ext cx="1965960" cy="2624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E8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54864" rIns="54864" bIns="54864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Question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3D3D3D"/>
                </a:solidFill>
                <a:latin typeface="Calibri"/>
              </a:rPr>
              <a:t>no domain name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Calibri"/>
              </a:rPr>
              <a:t>How much can a cell hold?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3D3D3D"/>
                </a:solidFill>
                <a:latin typeface="Calibri"/>
              </a:rPr>
              <a:t>Electrical engineering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3D3D3D"/>
                </a:solidFill>
                <a:latin typeface="Calibri"/>
              </a:rPr>
              <a:t>15 items × 144 domains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12848" y="3858768"/>
            <a:ext cx="3675887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E8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54864" rIns="54864" bIns="54864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A1A1A"/>
                </a:solidFill>
                <a:latin typeface="Calibri"/>
              </a:rPr>
              <a:t>Unsteered   helper, vector off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3D3D3D"/>
                </a:solidFill>
                <a:latin typeface="Calibri"/>
              </a:rPr>
              <a:t>A typical cell can hold a maximum of about 1.5 liters of blood…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12848" y="4535424"/>
            <a:ext cx="3675887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E8F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54864" rIns="54864" bIns="54864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A1A1A"/>
                </a:solidFill>
                <a:latin typeface="Calibri"/>
              </a:rPr>
              <a:t>Prompt   practitioner prompt, vector off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3D3D3D"/>
                </a:solidFill>
                <a:latin typeface="Calibri"/>
              </a:rPr>
              <a:t>A typical lithium-ion cell can hold around 3.7 volts and 2–3 ampere-hours (Ah) of charge.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12848" y="5212080"/>
            <a:ext cx="3675887" cy="640080"/>
          </a:xfrm>
          <a:prstGeom prst="roundRect">
            <a:avLst>
              <a:gd name="adj" fmla="val 8000"/>
            </a:avLst>
          </a:prstGeom>
          <a:solidFill>
            <a:srgbClr val="EEE4F8"/>
          </a:solidFill>
          <a:ln w="12700">
            <a:solidFill>
              <a:srgbClr val="6E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54864" rIns="54864" bIns="54864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A1A1A"/>
                </a:solidFill>
                <a:latin typeface="Calibri"/>
              </a:rPr>
              <a:t>CAA   helper, vector 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3D3D3D"/>
                </a:solidFill>
                <a:latin typeface="Calibri"/>
              </a:rPr>
              <a:t>A cell can hold 1 coulomb of charge.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12848" y="5888736"/>
            <a:ext cx="3675887" cy="640080"/>
          </a:xfrm>
          <a:prstGeom prst="roundRect">
            <a:avLst>
              <a:gd name="adj" fmla="val 8000"/>
            </a:avLst>
          </a:prstGeom>
          <a:solidFill>
            <a:srgbClr val="EEE4F8"/>
          </a:solidFill>
          <a:ln w="12700">
            <a:solidFill>
              <a:srgbClr val="6E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54864" rIns="54864" bIns="54864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A1A1A"/>
                </a:solidFill>
                <a:latin typeface="Calibri"/>
              </a:rPr>
              <a:t>prompt+CAA   practitioner prompt, vector 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3D3D3D"/>
                </a:solidFill>
                <a:latin typeface="Calibri"/>
              </a:rPr>
              <a:t>The amount of charge a cell can hold is measured in ampere-hours (Ah) or milliampere-hours (mAh).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54496" y="3547872"/>
            <a:ext cx="5779008" cy="27432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solidFill>
              <a:srgbClr val="FD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tIns="54864" rIns="54864" bIns="54864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4.  Score and decide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3895344"/>
            <a:ext cx="233172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4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tIns="54864" rIns="54864" bIns="54864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Calibri"/>
              </a:rPr>
              <a:t>MPNet cosine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3D3D3D"/>
                </a:solidFill>
                <a:latin typeface="Calibri"/>
              </a:rPr>
              <a:t>all-mpnet-base-v2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to one frozen reference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6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E6B32"/>
                </a:solidFill>
                <a:latin typeface="Calibri"/>
              </a:rPr>
              <a:t>Reference (domain sense)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Capacity specifies how much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charge the cell can supply.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6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3D3D3D"/>
                </a:solidFill>
                <a:latin typeface="Calibri"/>
              </a:rPr>
              <a:t>Every arm is scored against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3D3D3D"/>
                </a:solidFill>
                <a:latin typeface="Calibri"/>
              </a:rPr>
              <a:t>this same sentence.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32520" y="3895344"/>
            <a:ext cx="3218688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4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54864" rIns="54864" bIns="54864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Calibri"/>
              </a:rPr>
              <a:t>Pick the closer answer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32520" y="4370832"/>
            <a:ext cx="3218688" cy="960120"/>
          </a:xfrm>
          <a:prstGeom prst="roundRect">
            <a:avLst>
              <a:gd name="adj" fmla="val 8000"/>
            </a:avLst>
          </a:prstGeom>
          <a:solidFill>
            <a:srgbClr val="E8F7EF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54864" rIns="54864" bIns="54864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E6B32"/>
                </a:solidFill>
                <a:latin typeface="Calibri"/>
              </a:rPr>
              <a:t>Item win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Closer to the reference than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A1A1A"/>
                </a:solidFill>
                <a:latin typeface="Calibri"/>
              </a:rPr>
              <a:t>the other arm. Ties lose.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32520" y="5440680"/>
            <a:ext cx="3218688" cy="1115568"/>
          </a:xfrm>
          <a:prstGeom prst="roundRect">
            <a:avLst>
              <a:gd name="adj" fmla="val 8000"/>
            </a:avLst>
          </a:prstGeom>
          <a:solidFill>
            <a:srgbClr val="F8DCDC"/>
          </a:solidFill>
          <a:ln w="12700">
            <a:solidFill>
              <a:srgbClr val="B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54864" rIns="54864" bIns="54864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8C2828"/>
                </a:solidFill>
                <a:latin typeface="Calibri"/>
              </a:rPr>
              <a:t>Domain majority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Calibri"/>
              </a:rPr>
              <a:t>At least 8 of 15 answers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1A1A"/>
                </a:solidFill>
                <a:latin typeface="Calibri"/>
              </a:rPr>
              <a:t>are closer.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